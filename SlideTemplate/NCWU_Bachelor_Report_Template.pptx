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2" r:id="rId4"/>
    <p:sldId id="283" r:id="rId5"/>
    <p:sldId id="280" r:id="rId6"/>
    <p:sldId id="284" r:id="rId7"/>
    <p:sldId id="278" r:id="rId8"/>
    <p:sldId id="279" r:id="rId9"/>
    <p:sldId id="285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ABAB"/>
    <a:srgbClr val="2F4E8E"/>
    <a:srgbClr val="355592"/>
    <a:srgbClr val="6F6F6F"/>
    <a:srgbClr val="305190"/>
    <a:srgbClr val="325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41AE58-BAD9-40F8-B168-B7A9ADC7B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" y="1878225"/>
            <a:ext cx="12192000" cy="2677299"/>
          </a:xfrm>
          <a:solidFill>
            <a:srgbClr val="355592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91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84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963"/>
            <a:ext cx="10871200" cy="673781"/>
          </a:xfrm>
        </p:spPr>
        <p:txBody>
          <a:bodyPr/>
          <a:lstStyle>
            <a:lvl1pPr algn="ctr">
              <a:defRPr b="0">
                <a:solidFill>
                  <a:srgbClr val="2F4E8E"/>
                </a:solidFill>
              </a:defRPr>
            </a:lvl1pPr>
          </a:lstStyle>
          <a:p>
            <a:r>
              <a:rPr lang="zh-CN" altLang="en-US" dirty="0"/>
              <a:t>请插入目录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1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B769F-54F7-467D-A0E1-179535F020E1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14DA91-DCFB-4784-BEB6-CB1C65AB3751}"/>
              </a:ext>
            </a:extLst>
          </p:cNvPr>
          <p:cNvSpPr/>
          <p:nvPr userDrawn="1"/>
        </p:nvSpPr>
        <p:spPr>
          <a:xfrm>
            <a:off x="359888" y="6555808"/>
            <a:ext cx="755422" cy="21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21EBF-3A61-4454-A210-FF8445D56D36}"/>
              </a:ext>
            </a:extLst>
          </p:cNvPr>
          <p:cNvSpPr txBox="1"/>
          <p:nvPr userDrawn="1"/>
        </p:nvSpPr>
        <p:spPr>
          <a:xfrm>
            <a:off x="1356238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0" dirty="0">
                <a:solidFill>
                  <a:schemeClr val="bg1"/>
                </a:solidFill>
              </a:rPr>
              <a:t>方法与路线</a:t>
            </a:r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9BA75-E8BF-4959-95FD-E79B89DAA24A}"/>
              </a:ext>
            </a:extLst>
          </p:cNvPr>
          <p:cNvSpPr txBox="1"/>
          <p:nvPr userDrawn="1"/>
        </p:nvSpPr>
        <p:spPr>
          <a:xfrm>
            <a:off x="286866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0" dirty="0">
                <a:solidFill>
                  <a:srgbClr val="2F4E8E"/>
                </a:solidFill>
              </a:rPr>
              <a:t>背景与现状</a:t>
            </a:r>
            <a:endParaRPr lang="en-US" sz="1100" b="0" dirty="0">
              <a:solidFill>
                <a:srgbClr val="2F4E8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DD5F-8BD3-442E-923D-5EE83222909D}"/>
              </a:ext>
            </a:extLst>
          </p:cNvPr>
          <p:cNvSpPr txBox="1"/>
          <p:nvPr userDrawn="1"/>
        </p:nvSpPr>
        <p:spPr>
          <a:xfrm>
            <a:off x="2425610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E52BA-60E7-4CF6-A8D6-B70723AFBE7B}"/>
              </a:ext>
            </a:extLst>
          </p:cNvPr>
          <p:cNvSpPr txBox="1"/>
          <p:nvPr userDrawn="1"/>
        </p:nvSpPr>
        <p:spPr>
          <a:xfrm>
            <a:off x="3142322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B37A3-827E-4EAA-8A1D-8E09C93D68AF}"/>
              </a:ext>
            </a:extLst>
          </p:cNvPr>
          <p:cNvSpPr txBox="1"/>
          <p:nvPr userDrawn="1"/>
        </p:nvSpPr>
        <p:spPr>
          <a:xfrm>
            <a:off x="3859032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结论与展望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A43F26-5E8E-4C50-A729-B62C7C41E9A8}"/>
              </a:ext>
            </a:extLst>
          </p:cNvPr>
          <p:cNvSpPr/>
          <p:nvPr userDrawn="1"/>
        </p:nvSpPr>
        <p:spPr>
          <a:xfrm>
            <a:off x="1220826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7AB408-5C7D-466E-8D0A-2AD9FEC2E569}"/>
              </a:ext>
            </a:extLst>
          </p:cNvPr>
          <p:cNvSpPr/>
          <p:nvPr userDrawn="1"/>
        </p:nvSpPr>
        <p:spPr>
          <a:xfrm>
            <a:off x="2351742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CED51D-D4E9-4FF1-AB7F-6B8E9B664BB4}"/>
              </a:ext>
            </a:extLst>
          </p:cNvPr>
          <p:cNvSpPr/>
          <p:nvPr userDrawn="1"/>
        </p:nvSpPr>
        <p:spPr>
          <a:xfrm>
            <a:off x="308604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B3D0BF-AED4-4B4F-8CC5-ADED61C6E623}"/>
              </a:ext>
            </a:extLst>
          </p:cNvPr>
          <p:cNvSpPr/>
          <p:nvPr userDrawn="1"/>
        </p:nvSpPr>
        <p:spPr>
          <a:xfrm>
            <a:off x="380275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A85ADA-B09C-45B1-AB61-AD9694F47BC1}"/>
              </a:ext>
            </a:extLst>
          </p:cNvPr>
          <p:cNvSpPr/>
          <p:nvPr userDrawn="1"/>
        </p:nvSpPr>
        <p:spPr>
          <a:xfrm>
            <a:off x="236087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2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B769F-54F7-467D-A0E1-179535F020E1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14DA91-DCFB-4784-BEB6-CB1C65AB3751}"/>
              </a:ext>
            </a:extLst>
          </p:cNvPr>
          <p:cNvSpPr/>
          <p:nvPr userDrawn="1"/>
        </p:nvSpPr>
        <p:spPr>
          <a:xfrm>
            <a:off x="1356236" y="6555808"/>
            <a:ext cx="869724" cy="21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9BA75-E8BF-4959-95FD-E79B89DAA24A}"/>
              </a:ext>
            </a:extLst>
          </p:cNvPr>
          <p:cNvSpPr txBox="1"/>
          <p:nvPr userDrawn="1"/>
        </p:nvSpPr>
        <p:spPr>
          <a:xfrm>
            <a:off x="286866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背景与现状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21EBF-3A61-4454-A210-FF8445D56D36}"/>
              </a:ext>
            </a:extLst>
          </p:cNvPr>
          <p:cNvSpPr txBox="1"/>
          <p:nvPr userDrawn="1"/>
        </p:nvSpPr>
        <p:spPr>
          <a:xfrm>
            <a:off x="1356238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2F4E8E"/>
                </a:solidFill>
              </a:rPr>
              <a:t>方法与路线</a:t>
            </a:r>
            <a:endParaRPr lang="en-US" sz="1100" b="1" dirty="0">
              <a:solidFill>
                <a:srgbClr val="2F4E8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DD5F-8BD3-442E-923D-5EE83222909D}"/>
              </a:ext>
            </a:extLst>
          </p:cNvPr>
          <p:cNvSpPr txBox="1"/>
          <p:nvPr userDrawn="1"/>
        </p:nvSpPr>
        <p:spPr>
          <a:xfrm>
            <a:off x="2425610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E52BA-60E7-4CF6-A8D6-B70723AFBE7B}"/>
              </a:ext>
            </a:extLst>
          </p:cNvPr>
          <p:cNvSpPr txBox="1"/>
          <p:nvPr userDrawn="1"/>
        </p:nvSpPr>
        <p:spPr>
          <a:xfrm>
            <a:off x="3142322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B37A3-827E-4EAA-8A1D-8E09C93D68AF}"/>
              </a:ext>
            </a:extLst>
          </p:cNvPr>
          <p:cNvSpPr txBox="1"/>
          <p:nvPr userDrawn="1"/>
        </p:nvSpPr>
        <p:spPr>
          <a:xfrm>
            <a:off x="3859032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结论与展望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A43F26-5E8E-4C50-A729-B62C7C41E9A8}"/>
              </a:ext>
            </a:extLst>
          </p:cNvPr>
          <p:cNvSpPr/>
          <p:nvPr userDrawn="1"/>
        </p:nvSpPr>
        <p:spPr>
          <a:xfrm>
            <a:off x="1220826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7AB408-5C7D-466E-8D0A-2AD9FEC2E569}"/>
              </a:ext>
            </a:extLst>
          </p:cNvPr>
          <p:cNvSpPr/>
          <p:nvPr userDrawn="1"/>
        </p:nvSpPr>
        <p:spPr>
          <a:xfrm>
            <a:off x="2351742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CED51D-D4E9-4FF1-AB7F-6B8E9B664BB4}"/>
              </a:ext>
            </a:extLst>
          </p:cNvPr>
          <p:cNvSpPr/>
          <p:nvPr userDrawn="1"/>
        </p:nvSpPr>
        <p:spPr>
          <a:xfrm>
            <a:off x="308604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B3D0BF-AED4-4B4F-8CC5-ADED61C6E623}"/>
              </a:ext>
            </a:extLst>
          </p:cNvPr>
          <p:cNvSpPr/>
          <p:nvPr userDrawn="1"/>
        </p:nvSpPr>
        <p:spPr>
          <a:xfrm>
            <a:off x="380275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A85ADA-B09C-45B1-AB61-AD9694F47BC1}"/>
              </a:ext>
            </a:extLst>
          </p:cNvPr>
          <p:cNvSpPr/>
          <p:nvPr userDrawn="1"/>
        </p:nvSpPr>
        <p:spPr>
          <a:xfrm>
            <a:off x="236087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7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B769F-54F7-467D-A0E1-179535F020E1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21EBF-3A61-4454-A210-FF8445D56D36}"/>
              </a:ext>
            </a:extLst>
          </p:cNvPr>
          <p:cNvSpPr txBox="1"/>
          <p:nvPr userDrawn="1"/>
        </p:nvSpPr>
        <p:spPr>
          <a:xfrm>
            <a:off x="1356238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0" dirty="0">
                <a:solidFill>
                  <a:schemeClr val="bg1"/>
                </a:solidFill>
              </a:rPr>
              <a:t>方法与路线</a:t>
            </a:r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14DA91-DCFB-4784-BEB6-CB1C65AB3751}"/>
              </a:ext>
            </a:extLst>
          </p:cNvPr>
          <p:cNvSpPr/>
          <p:nvPr userDrawn="1"/>
        </p:nvSpPr>
        <p:spPr>
          <a:xfrm>
            <a:off x="2499464" y="6555808"/>
            <a:ext cx="463474" cy="21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9BA75-E8BF-4959-95FD-E79B89DAA24A}"/>
              </a:ext>
            </a:extLst>
          </p:cNvPr>
          <p:cNvSpPr txBox="1"/>
          <p:nvPr userDrawn="1"/>
        </p:nvSpPr>
        <p:spPr>
          <a:xfrm>
            <a:off x="286866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背景与现状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DD5F-8BD3-442E-923D-5EE83222909D}"/>
              </a:ext>
            </a:extLst>
          </p:cNvPr>
          <p:cNvSpPr txBox="1"/>
          <p:nvPr userDrawn="1"/>
        </p:nvSpPr>
        <p:spPr>
          <a:xfrm>
            <a:off x="2425610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2F4E8E"/>
                </a:solidFill>
              </a:rPr>
              <a:t>内容</a:t>
            </a:r>
            <a:r>
              <a:rPr lang="en-US" altLang="zh-CN" sz="1100" b="1" dirty="0">
                <a:solidFill>
                  <a:srgbClr val="2F4E8E"/>
                </a:solidFill>
              </a:rPr>
              <a:t>1</a:t>
            </a:r>
            <a:endParaRPr lang="en-US" sz="1100" b="1" dirty="0">
              <a:solidFill>
                <a:srgbClr val="2F4E8E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E52BA-60E7-4CF6-A8D6-B70723AFBE7B}"/>
              </a:ext>
            </a:extLst>
          </p:cNvPr>
          <p:cNvSpPr txBox="1"/>
          <p:nvPr userDrawn="1"/>
        </p:nvSpPr>
        <p:spPr>
          <a:xfrm>
            <a:off x="3142322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B37A3-827E-4EAA-8A1D-8E09C93D68AF}"/>
              </a:ext>
            </a:extLst>
          </p:cNvPr>
          <p:cNvSpPr txBox="1"/>
          <p:nvPr userDrawn="1"/>
        </p:nvSpPr>
        <p:spPr>
          <a:xfrm>
            <a:off x="3859032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结论与展望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A43F26-5E8E-4C50-A729-B62C7C41E9A8}"/>
              </a:ext>
            </a:extLst>
          </p:cNvPr>
          <p:cNvSpPr/>
          <p:nvPr userDrawn="1"/>
        </p:nvSpPr>
        <p:spPr>
          <a:xfrm>
            <a:off x="1220826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7AB408-5C7D-466E-8D0A-2AD9FEC2E569}"/>
              </a:ext>
            </a:extLst>
          </p:cNvPr>
          <p:cNvSpPr/>
          <p:nvPr userDrawn="1"/>
        </p:nvSpPr>
        <p:spPr>
          <a:xfrm>
            <a:off x="2351742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CED51D-D4E9-4FF1-AB7F-6B8E9B664BB4}"/>
              </a:ext>
            </a:extLst>
          </p:cNvPr>
          <p:cNvSpPr/>
          <p:nvPr userDrawn="1"/>
        </p:nvSpPr>
        <p:spPr>
          <a:xfrm>
            <a:off x="308604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B3D0BF-AED4-4B4F-8CC5-ADED61C6E623}"/>
              </a:ext>
            </a:extLst>
          </p:cNvPr>
          <p:cNvSpPr/>
          <p:nvPr userDrawn="1"/>
        </p:nvSpPr>
        <p:spPr>
          <a:xfrm>
            <a:off x="380275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A85ADA-B09C-45B1-AB61-AD9694F47BC1}"/>
              </a:ext>
            </a:extLst>
          </p:cNvPr>
          <p:cNvSpPr/>
          <p:nvPr userDrawn="1"/>
        </p:nvSpPr>
        <p:spPr>
          <a:xfrm>
            <a:off x="236087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B769F-54F7-467D-A0E1-179535F020E1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DD5F-8BD3-442E-923D-5EE83222909D}"/>
              </a:ext>
            </a:extLst>
          </p:cNvPr>
          <p:cNvSpPr txBox="1"/>
          <p:nvPr userDrawn="1"/>
        </p:nvSpPr>
        <p:spPr>
          <a:xfrm>
            <a:off x="2425610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0" dirty="0">
                <a:solidFill>
                  <a:schemeClr val="bg1"/>
                </a:solidFill>
              </a:rPr>
              <a:t>内容</a:t>
            </a:r>
            <a:r>
              <a:rPr lang="en-US" altLang="zh-CN" sz="1100" b="0" dirty="0">
                <a:solidFill>
                  <a:schemeClr val="bg1"/>
                </a:solidFill>
              </a:rPr>
              <a:t>1</a:t>
            </a:r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21EBF-3A61-4454-A210-FF8445D56D36}"/>
              </a:ext>
            </a:extLst>
          </p:cNvPr>
          <p:cNvSpPr txBox="1"/>
          <p:nvPr userDrawn="1"/>
        </p:nvSpPr>
        <p:spPr>
          <a:xfrm>
            <a:off x="1356238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0" dirty="0">
                <a:solidFill>
                  <a:schemeClr val="bg1"/>
                </a:solidFill>
              </a:rPr>
              <a:t>方法与路线</a:t>
            </a:r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E41074-1F99-4B13-9669-4424E252AE23}"/>
              </a:ext>
            </a:extLst>
          </p:cNvPr>
          <p:cNvSpPr/>
          <p:nvPr userDrawn="1"/>
        </p:nvSpPr>
        <p:spPr>
          <a:xfrm>
            <a:off x="3209075" y="6555808"/>
            <a:ext cx="424713" cy="21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9BA75-E8BF-4959-95FD-E79B89DAA24A}"/>
              </a:ext>
            </a:extLst>
          </p:cNvPr>
          <p:cNvSpPr txBox="1"/>
          <p:nvPr userDrawn="1"/>
        </p:nvSpPr>
        <p:spPr>
          <a:xfrm>
            <a:off x="286866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背景与现状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E52BA-60E7-4CF6-A8D6-B70723AFBE7B}"/>
              </a:ext>
            </a:extLst>
          </p:cNvPr>
          <p:cNvSpPr txBox="1"/>
          <p:nvPr userDrawn="1"/>
        </p:nvSpPr>
        <p:spPr>
          <a:xfrm>
            <a:off x="3142322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2F4E8E"/>
                </a:solidFill>
              </a:rPr>
              <a:t>内容</a:t>
            </a:r>
            <a:r>
              <a:rPr lang="en-US" altLang="zh-CN" sz="1100" b="1" dirty="0">
                <a:solidFill>
                  <a:srgbClr val="2F4E8E"/>
                </a:solidFill>
              </a:rPr>
              <a:t>2</a:t>
            </a:r>
            <a:endParaRPr lang="en-US" sz="1100" b="1" dirty="0">
              <a:solidFill>
                <a:srgbClr val="2F4E8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B37A3-827E-4EAA-8A1D-8E09C93D68AF}"/>
              </a:ext>
            </a:extLst>
          </p:cNvPr>
          <p:cNvSpPr txBox="1"/>
          <p:nvPr userDrawn="1"/>
        </p:nvSpPr>
        <p:spPr>
          <a:xfrm>
            <a:off x="3859032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结论与展望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A43F26-5E8E-4C50-A729-B62C7C41E9A8}"/>
              </a:ext>
            </a:extLst>
          </p:cNvPr>
          <p:cNvSpPr/>
          <p:nvPr userDrawn="1"/>
        </p:nvSpPr>
        <p:spPr>
          <a:xfrm>
            <a:off x="1220826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7AB408-5C7D-466E-8D0A-2AD9FEC2E569}"/>
              </a:ext>
            </a:extLst>
          </p:cNvPr>
          <p:cNvSpPr/>
          <p:nvPr userDrawn="1"/>
        </p:nvSpPr>
        <p:spPr>
          <a:xfrm>
            <a:off x="2351742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CED51D-D4E9-4FF1-AB7F-6B8E9B664BB4}"/>
              </a:ext>
            </a:extLst>
          </p:cNvPr>
          <p:cNvSpPr/>
          <p:nvPr userDrawn="1"/>
        </p:nvSpPr>
        <p:spPr>
          <a:xfrm>
            <a:off x="308604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B3D0BF-AED4-4B4F-8CC5-ADED61C6E623}"/>
              </a:ext>
            </a:extLst>
          </p:cNvPr>
          <p:cNvSpPr/>
          <p:nvPr userDrawn="1"/>
        </p:nvSpPr>
        <p:spPr>
          <a:xfrm>
            <a:off x="380275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A85ADA-B09C-45B1-AB61-AD9694F47BC1}"/>
              </a:ext>
            </a:extLst>
          </p:cNvPr>
          <p:cNvSpPr/>
          <p:nvPr userDrawn="1"/>
        </p:nvSpPr>
        <p:spPr>
          <a:xfrm>
            <a:off x="236087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3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B769F-54F7-467D-A0E1-179535F020E1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21EBF-3A61-4454-A210-FF8445D56D36}"/>
              </a:ext>
            </a:extLst>
          </p:cNvPr>
          <p:cNvSpPr txBox="1"/>
          <p:nvPr userDrawn="1"/>
        </p:nvSpPr>
        <p:spPr>
          <a:xfrm>
            <a:off x="1356238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0" dirty="0">
                <a:solidFill>
                  <a:schemeClr val="bg1"/>
                </a:solidFill>
              </a:rPr>
              <a:t>方法与路线</a:t>
            </a:r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E4EF99A-8C01-4E61-B3ED-9684573F23D0}"/>
              </a:ext>
            </a:extLst>
          </p:cNvPr>
          <p:cNvSpPr/>
          <p:nvPr userDrawn="1"/>
        </p:nvSpPr>
        <p:spPr>
          <a:xfrm>
            <a:off x="3935578" y="6555808"/>
            <a:ext cx="731672" cy="21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9BA75-E8BF-4959-95FD-E79B89DAA24A}"/>
              </a:ext>
            </a:extLst>
          </p:cNvPr>
          <p:cNvSpPr txBox="1"/>
          <p:nvPr userDrawn="1"/>
        </p:nvSpPr>
        <p:spPr>
          <a:xfrm>
            <a:off x="286866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背景与现状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DD5F-8BD3-442E-923D-5EE83222909D}"/>
              </a:ext>
            </a:extLst>
          </p:cNvPr>
          <p:cNvSpPr txBox="1"/>
          <p:nvPr userDrawn="1"/>
        </p:nvSpPr>
        <p:spPr>
          <a:xfrm>
            <a:off x="2425610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E52BA-60E7-4CF6-A8D6-B70723AFBE7B}"/>
              </a:ext>
            </a:extLst>
          </p:cNvPr>
          <p:cNvSpPr txBox="1"/>
          <p:nvPr userDrawn="1"/>
        </p:nvSpPr>
        <p:spPr>
          <a:xfrm>
            <a:off x="3142322" y="6533003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</a:rPr>
              <a:t>内容</a:t>
            </a:r>
            <a:r>
              <a:rPr lang="en-US" altLang="zh-CN" sz="1100" dirty="0">
                <a:solidFill>
                  <a:schemeClr val="bg1"/>
                </a:solidFill>
              </a:rPr>
              <a:t>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B37A3-827E-4EAA-8A1D-8E09C93D68AF}"/>
              </a:ext>
            </a:extLst>
          </p:cNvPr>
          <p:cNvSpPr txBox="1"/>
          <p:nvPr userDrawn="1"/>
        </p:nvSpPr>
        <p:spPr>
          <a:xfrm>
            <a:off x="3859032" y="6533003"/>
            <a:ext cx="8899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2F4E8E"/>
                </a:solidFill>
              </a:rPr>
              <a:t>结论与展望</a:t>
            </a:r>
            <a:endParaRPr lang="en-US" sz="1100" b="1" dirty="0">
              <a:solidFill>
                <a:srgbClr val="2F4E8E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A43F26-5E8E-4C50-A729-B62C7C41E9A8}"/>
              </a:ext>
            </a:extLst>
          </p:cNvPr>
          <p:cNvSpPr/>
          <p:nvPr userDrawn="1"/>
        </p:nvSpPr>
        <p:spPr>
          <a:xfrm>
            <a:off x="1220826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7AB408-5C7D-466E-8D0A-2AD9FEC2E569}"/>
              </a:ext>
            </a:extLst>
          </p:cNvPr>
          <p:cNvSpPr/>
          <p:nvPr userDrawn="1"/>
        </p:nvSpPr>
        <p:spPr>
          <a:xfrm>
            <a:off x="2351742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CED51D-D4E9-4FF1-AB7F-6B8E9B664BB4}"/>
              </a:ext>
            </a:extLst>
          </p:cNvPr>
          <p:cNvSpPr/>
          <p:nvPr userDrawn="1"/>
        </p:nvSpPr>
        <p:spPr>
          <a:xfrm>
            <a:off x="308604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B3D0BF-AED4-4B4F-8CC5-ADED61C6E623}"/>
              </a:ext>
            </a:extLst>
          </p:cNvPr>
          <p:cNvSpPr/>
          <p:nvPr userDrawn="1"/>
        </p:nvSpPr>
        <p:spPr>
          <a:xfrm>
            <a:off x="3802750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A85ADA-B09C-45B1-AB61-AD9694F47BC1}"/>
              </a:ext>
            </a:extLst>
          </p:cNvPr>
          <p:cNvSpPr/>
          <p:nvPr userDrawn="1"/>
        </p:nvSpPr>
        <p:spPr>
          <a:xfrm>
            <a:off x="236087" y="6618088"/>
            <a:ext cx="91440" cy="91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3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B769F-54F7-467D-A0E1-179535F020E1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03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38" y="856078"/>
            <a:ext cx="11915662" cy="496887"/>
          </a:xfrm>
        </p:spPr>
        <p:txBody>
          <a:bodyPr/>
          <a:lstStyle>
            <a:lvl1pPr>
              <a:defRPr b="1">
                <a:solidFill>
                  <a:srgbClr val="35559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rgbClr val="355592"/>
                </a:solidFill>
              </a:rPr>
              <a:pPr algn="r"/>
              <a:t>‹#›</a:t>
            </a:fld>
            <a:endParaRPr lang="en-US" b="1" dirty="0">
              <a:solidFill>
                <a:srgbClr val="3555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59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A6966-8D95-42D9-8AAC-B888BBE03BF4}"/>
              </a:ext>
            </a:extLst>
          </p:cNvPr>
          <p:cNvSpPr/>
          <p:nvPr userDrawn="1"/>
        </p:nvSpPr>
        <p:spPr>
          <a:xfrm>
            <a:off x="159657" y="754744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1464AAF-1E92-4804-9C1F-C9874AF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963"/>
            <a:ext cx="12192000" cy="673781"/>
          </a:xfrm>
        </p:spPr>
        <p:txBody>
          <a:bodyPr/>
          <a:lstStyle>
            <a:lvl1pPr algn="ctr">
              <a:defRPr b="1">
                <a:solidFill>
                  <a:srgbClr val="2F4E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D0A19-5AD1-4EC6-9855-522D3E1B52EA}"/>
              </a:ext>
            </a:extLst>
          </p:cNvPr>
          <p:cNvSpPr/>
          <p:nvPr userDrawn="1"/>
        </p:nvSpPr>
        <p:spPr>
          <a:xfrm>
            <a:off x="0" y="6488668"/>
            <a:ext cx="12191999" cy="369332"/>
          </a:xfrm>
          <a:prstGeom prst="rect">
            <a:avLst/>
          </a:prstGeom>
          <a:solidFill>
            <a:srgbClr val="2F4E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648866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chemeClr val="bg1"/>
                </a:solidFill>
              </a:rPr>
              <a:pPr algn="r"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20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108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30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B93D93-38A5-49E2-8393-1400F076F75B}"/>
              </a:ext>
            </a:extLst>
          </p:cNvPr>
          <p:cNvSpPr/>
          <p:nvPr userDrawn="1"/>
        </p:nvSpPr>
        <p:spPr>
          <a:xfrm>
            <a:off x="0" y="1878227"/>
            <a:ext cx="12192000" cy="2677298"/>
          </a:xfrm>
          <a:prstGeom prst="rect">
            <a:avLst/>
          </a:prstGeom>
          <a:solidFill>
            <a:srgbClr val="3555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dirty="0"/>
              <a:t>敬请批评指正</a:t>
            </a:r>
            <a:endParaRPr lang="en-US" altLang="zh-CN" sz="6600" dirty="0"/>
          </a:p>
          <a:p>
            <a:pPr algn="ctr"/>
            <a:r>
              <a:rPr lang="en-US" altLang="zh-CN" sz="6600" dirty="0"/>
              <a:t>Q&amp;A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1527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6C821-608A-4A82-B804-0CA179C6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7262D-F7C4-4440-AA67-73C0B58FC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C74D-E004-41F1-A12F-F84BED547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2E87-C382-4127-851E-3CA42A94DF3E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EC132-6BC9-47A5-88CD-DF3406B4D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E636E-0C61-40C7-84B8-72AB976B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BA522-0A6E-4983-88D3-14FE16CCA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8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2" r:id="rId4"/>
    <p:sldLayoutId id="2147483661" r:id="rId5"/>
    <p:sldLayoutId id="2147483663" r:id="rId6"/>
    <p:sldLayoutId id="2147483660" r:id="rId7"/>
    <p:sldLayoutId id="2147483659" r:id="rId8"/>
    <p:sldLayoutId id="2147483655" r:id="rId9"/>
    <p:sldLayoutId id="2147483657" r:id="rId10"/>
    <p:sldLayoutId id="2147483653" r:id="rId11"/>
    <p:sldLayoutId id="2147483658" r:id="rId12"/>
    <p:sldLayoutId id="2147483651" r:id="rId13"/>
    <p:sldLayoutId id="214748365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3A2A-D760-4E2E-A170-F38ED5746B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/>
              <a:t>请在这里插入题目，可调节字体与大小</a:t>
            </a:r>
            <a:endParaRPr lang="en-US" altLang="zh-CN" sz="4000" dirty="0"/>
          </a:p>
          <a:p>
            <a:pPr>
              <a:lnSpc>
                <a:spcPct val="150000"/>
              </a:lnSpc>
            </a:pPr>
            <a:r>
              <a:rPr lang="zh-CN" altLang="en-US" sz="4000" dirty="0"/>
              <a:t>二行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D3BB5-D309-4F57-A9B7-146F82C8353D}"/>
              </a:ext>
            </a:extLst>
          </p:cNvPr>
          <p:cNvSpPr txBox="1"/>
          <p:nvPr/>
        </p:nvSpPr>
        <p:spPr>
          <a:xfrm>
            <a:off x="0" y="95250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2022</a:t>
            </a:r>
            <a:r>
              <a:rPr lang="zh-CN" altLang="en-US" sz="3600" dirty="0"/>
              <a:t>级本科生毕业设计答辩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153CA-ABCA-415C-A2A5-438DF7A012FF}"/>
              </a:ext>
            </a:extLst>
          </p:cNvPr>
          <p:cNvSpPr/>
          <p:nvPr/>
        </p:nvSpPr>
        <p:spPr>
          <a:xfrm>
            <a:off x="-1" y="741581"/>
            <a:ext cx="7200000" cy="47625"/>
          </a:xfrm>
          <a:prstGeom prst="rect">
            <a:avLst/>
          </a:prstGeom>
          <a:solidFill>
            <a:srgbClr val="3555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FB213-4A3D-4B88-83C3-52796D7F7D53}"/>
              </a:ext>
            </a:extLst>
          </p:cNvPr>
          <p:cNvSpPr txBox="1"/>
          <p:nvPr/>
        </p:nvSpPr>
        <p:spPr>
          <a:xfrm>
            <a:off x="4387842" y="4642009"/>
            <a:ext cx="3416320" cy="2258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李四</a:t>
            </a:r>
            <a:endParaRPr lang="en-US" altLang="zh-CN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/>
              <a:t>学号：</a:t>
            </a:r>
            <a:r>
              <a:rPr lang="en-US" altLang="zh-CN" dirty="0"/>
              <a:t>202311210</a:t>
            </a:r>
          </a:p>
          <a:p>
            <a:pPr algn="ctr">
              <a:lnSpc>
                <a:spcPct val="150000"/>
              </a:lnSpc>
            </a:pPr>
            <a:r>
              <a:rPr lang="zh-CN" altLang="en-US" dirty="0"/>
              <a:t>专业：机械设计制造及其自动化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导师：张三</a:t>
            </a:r>
            <a:endParaRPr lang="en-US" altLang="zh-CN" dirty="0"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fld id="{E97D419F-435C-4209-A317-EA5DB7896E48}" type="datetime1">
              <a:rPr lang="zh-CN" altLang="en-US" smtClean="0"/>
              <a:pPr algn="ctr">
                <a:lnSpc>
                  <a:spcPct val="150000"/>
                </a:lnSpc>
              </a:pPr>
              <a:t>2026/3/18</a:t>
            </a:fld>
            <a:endParaRPr lang="en-US" altLang="zh-CN" dirty="0"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140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7237-D814-4420-B2F0-F648B02C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大纲</a:t>
            </a:r>
            <a:r>
              <a:rPr lang="en-US" altLang="zh-CN" dirty="0"/>
              <a:t>/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B211A-F473-4C7E-B3CA-4B72E92FBB9E}"/>
              </a:ext>
            </a:extLst>
          </p:cNvPr>
          <p:cNvSpPr txBox="1"/>
          <p:nvPr/>
        </p:nvSpPr>
        <p:spPr>
          <a:xfrm>
            <a:off x="2295525" y="1724025"/>
            <a:ext cx="7258050" cy="39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2F4E8E"/>
                </a:solidFill>
              </a:rPr>
              <a:t>背景与介绍</a:t>
            </a:r>
            <a:endParaRPr lang="en-US" altLang="zh-CN" sz="2400" dirty="0">
              <a:solidFill>
                <a:srgbClr val="2F4E8E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技术路线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ABABAB"/>
                </a:solidFill>
              </a:rPr>
              <a:t>内容</a:t>
            </a:r>
            <a:r>
              <a:rPr lang="en-US" altLang="zh-CN" sz="2400" dirty="0">
                <a:solidFill>
                  <a:srgbClr val="ABABAB"/>
                </a:solidFill>
              </a:rPr>
              <a:t>3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5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29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CAF6-7B7F-4C2D-ADA0-CF80DC43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毕业设计报告说明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A33273-0738-475F-BA58-5B89EA62A2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关于配色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E384B4-7B15-4176-8548-B4138DD8F781}"/>
              </a:ext>
            </a:extLst>
          </p:cNvPr>
          <p:cNvSpPr txBox="1"/>
          <p:nvPr/>
        </p:nvSpPr>
        <p:spPr>
          <a:xfrm>
            <a:off x="714431" y="1694524"/>
            <a:ext cx="11039475" cy="246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避免使用过于跳跃的颜色（如亮粉、亮绿）。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经典蓝白：</a:t>
            </a:r>
            <a:r>
              <a:rPr lang="zh-CN" altLang="en-US" sz="2000" dirty="0"/>
              <a:t> 深蓝色（代表严谨）</a:t>
            </a:r>
            <a:r>
              <a:rPr lang="en-US" altLang="zh-CN" sz="2000" dirty="0"/>
              <a:t>+ </a:t>
            </a:r>
            <a:r>
              <a:rPr lang="zh-CN" altLang="en-US" sz="2000" dirty="0"/>
              <a:t>白色背景。这是最稳妥的“答辩色”，兼容性最强。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灰白黑：</a:t>
            </a:r>
            <a:r>
              <a:rPr lang="zh-CN" altLang="en-US" sz="2000" dirty="0"/>
              <a:t> 极简风格，利用不同粗细的字体和灰色块来区分层级，显得非常有现代感。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点睛色：</a:t>
            </a:r>
            <a:r>
              <a:rPr lang="zh-CN" altLang="en-US" sz="2000" dirty="0"/>
              <a:t> 全篇只用一种亮色（如橙色或青色）来标注图表中的关键数据点或结论。</a:t>
            </a:r>
          </a:p>
        </p:txBody>
      </p:sp>
    </p:spTree>
    <p:extLst>
      <p:ext uri="{BB962C8B-B14F-4D97-AF65-F5344CB8AC3E}">
        <p14:creationId xmlns:p14="http://schemas.microsoft.com/office/powerpoint/2010/main" val="307138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CAF6-7B7F-4C2D-ADA0-CF80DC43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毕业设计报告说明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A33273-0738-475F-BA58-5B89EA62A2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关于页面排版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E384B4-7B15-4176-8548-B4138DD8F781}"/>
              </a:ext>
            </a:extLst>
          </p:cNvPr>
          <p:cNvSpPr txBox="1"/>
          <p:nvPr/>
        </p:nvSpPr>
        <p:spPr>
          <a:xfrm>
            <a:off x="714431" y="1694524"/>
            <a:ext cx="11039475" cy="430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/>
              <a:t>去掉花哨边框</a:t>
            </a:r>
            <a:r>
              <a:rPr lang="zh-CN" altLang="en-US" sz="2000" dirty="0"/>
              <a:t>： 删掉 </a:t>
            </a:r>
            <a:r>
              <a:rPr lang="en-US" altLang="zh-CN" sz="2000" dirty="0"/>
              <a:t>PPT </a:t>
            </a:r>
            <a:r>
              <a:rPr lang="zh-CN" altLang="en-US" sz="2000" dirty="0"/>
              <a:t>自带的那些五颜六色的模板边框，保持背景干净。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“一页一重点”</a:t>
            </a:r>
            <a:r>
              <a:rPr lang="zh-CN" altLang="en-US" sz="2000" dirty="0"/>
              <a:t>： 每一页的标题要直接点出结论（例如：不要只写“实验结果”，要写“实验结果：改进后的算法准确率提升 </a:t>
            </a:r>
            <a:r>
              <a:rPr lang="en-US" altLang="zh-CN" sz="2000" dirty="0"/>
              <a:t>5%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导航栏设计</a:t>
            </a:r>
            <a:r>
              <a:rPr lang="zh-CN" altLang="en-US" sz="2000" dirty="0"/>
              <a:t>： 在页面顶部或侧边放一个微缩的“进度条”，标注你当前处于：背景 </a:t>
            </a:r>
            <a:r>
              <a:rPr lang="en-US" altLang="zh-CN" sz="2000" dirty="0"/>
              <a:t>-&gt; </a:t>
            </a:r>
            <a:r>
              <a:rPr lang="zh-CN" altLang="en-US" sz="2000" dirty="0"/>
              <a:t>方案 </a:t>
            </a:r>
            <a:r>
              <a:rPr lang="en-US" altLang="zh-CN" sz="2000" dirty="0"/>
              <a:t>-&gt; </a:t>
            </a:r>
            <a:r>
              <a:rPr lang="zh-CN" altLang="en-US" sz="2000" dirty="0"/>
              <a:t>实验 </a:t>
            </a:r>
            <a:r>
              <a:rPr lang="en-US" altLang="zh-CN" sz="2000" dirty="0"/>
              <a:t>-&gt; </a:t>
            </a:r>
            <a:r>
              <a:rPr lang="zh-CN" altLang="en-US" sz="2000" dirty="0"/>
              <a:t>结论 的哪个位置。这能让评委随时知道你的进度，不至于走神。</a:t>
            </a:r>
          </a:p>
        </p:txBody>
      </p:sp>
    </p:spTree>
    <p:extLst>
      <p:ext uri="{BB962C8B-B14F-4D97-AF65-F5344CB8AC3E}">
        <p14:creationId xmlns:p14="http://schemas.microsoft.com/office/powerpoint/2010/main" val="279992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7237-D814-4420-B2F0-F648B02C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大纲</a:t>
            </a:r>
            <a:r>
              <a:rPr lang="en-US" altLang="zh-CN" dirty="0"/>
              <a:t>/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B211A-F473-4C7E-B3CA-4B72E92FBB9E}"/>
              </a:ext>
            </a:extLst>
          </p:cNvPr>
          <p:cNvSpPr txBox="1"/>
          <p:nvPr/>
        </p:nvSpPr>
        <p:spPr>
          <a:xfrm>
            <a:off x="2295525" y="1724025"/>
            <a:ext cx="7258050" cy="39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背景与介绍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技术路线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2F4E8E"/>
                </a:solidFill>
              </a:rPr>
              <a:t>内容</a:t>
            </a:r>
            <a:r>
              <a:rPr lang="en-US" altLang="zh-CN" sz="2400" dirty="0">
                <a:solidFill>
                  <a:srgbClr val="2F4E8E"/>
                </a:solidFill>
              </a:rPr>
              <a:t>1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5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这里是大纲各级标题或者内容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49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CAF6-7B7F-4C2D-ADA0-CF80DC43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毕业设计报告说明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A33273-0738-475F-BA58-5B89EA62A2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关于图表风格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E384B4-7B15-4176-8548-B4138DD8F781}"/>
              </a:ext>
            </a:extLst>
          </p:cNvPr>
          <p:cNvSpPr txBox="1"/>
          <p:nvPr/>
        </p:nvSpPr>
        <p:spPr>
          <a:xfrm>
            <a:off x="714431" y="1694524"/>
            <a:ext cx="11039475" cy="246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/>
              <a:t>矢量化</a:t>
            </a:r>
            <a:r>
              <a:rPr lang="zh-CN" altLang="en-US" sz="2000" dirty="0"/>
              <a:t>： 流程图、系统架构图尽量在 </a:t>
            </a:r>
            <a:r>
              <a:rPr lang="en-US" altLang="zh-CN" sz="2000" dirty="0"/>
              <a:t>PowerPoint </a:t>
            </a:r>
            <a:r>
              <a:rPr lang="zh-CN" altLang="en-US" sz="2000" dirty="0"/>
              <a:t>里直接用形状绘制，而不是从论文里截图，否则投影出来会有锯齿或模糊。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CN" sz="2000" b="1" dirty="0"/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统一风格</a:t>
            </a:r>
            <a:r>
              <a:rPr lang="zh-CN" altLang="en-US" sz="2000" dirty="0"/>
              <a:t>： 所有的图表（</a:t>
            </a:r>
            <a:r>
              <a:rPr lang="en-US" altLang="zh-CN" sz="2000" dirty="0" err="1"/>
              <a:t>Matlab</a:t>
            </a:r>
            <a:r>
              <a:rPr lang="en-US" altLang="zh-CN" sz="2000" dirty="0"/>
              <a:t>, Illustrator</a:t>
            </a:r>
            <a:r>
              <a:rPr lang="zh-CN" altLang="en-US" sz="2000" dirty="0"/>
              <a:t>）应保持字体、字号、配色一致。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C4DAF-09C0-4F01-9746-626F495EECEC}"/>
              </a:ext>
            </a:extLst>
          </p:cNvPr>
          <p:cNvSpPr/>
          <p:nvPr/>
        </p:nvSpPr>
        <p:spPr>
          <a:xfrm>
            <a:off x="5238750" y="2371725"/>
            <a:ext cx="1095375" cy="1057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注释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921A04-D761-42B5-81B0-368D99F0E80F}"/>
              </a:ext>
            </a:extLst>
          </p:cNvPr>
          <p:cNvSpPr/>
          <p:nvPr/>
        </p:nvSpPr>
        <p:spPr>
          <a:xfrm>
            <a:off x="6591300" y="2371725"/>
            <a:ext cx="1095375" cy="1057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2AE95-76C2-4456-88AE-DDF5DD853B8A}"/>
              </a:ext>
            </a:extLst>
          </p:cNvPr>
          <p:cNvSpPr/>
          <p:nvPr/>
        </p:nvSpPr>
        <p:spPr>
          <a:xfrm>
            <a:off x="7943850" y="2371725"/>
            <a:ext cx="1095375" cy="1057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24C8C5-9E45-4F16-8E3D-7515CA9DAE1B}"/>
              </a:ext>
            </a:extLst>
          </p:cNvPr>
          <p:cNvSpPr/>
          <p:nvPr/>
        </p:nvSpPr>
        <p:spPr>
          <a:xfrm>
            <a:off x="9296400" y="2371725"/>
            <a:ext cx="1095375" cy="1057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34973-E64D-4611-9A2F-4AC01EDA34AB}"/>
              </a:ext>
            </a:extLst>
          </p:cNvPr>
          <p:cNvSpPr/>
          <p:nvPr/>
        </p:nvSpPr>
        <p:spPr>
          <a:xfrm>
            <a:off x="10648950" y="2371725"/>
            <a:ext cx="1095375" cy="1057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0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CAF6-7B7F-4C2D-ADA0-CF80DC43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毕业设计报告说明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A33273-0738-475F-BA58-5B89EA62A2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E384B4-7B15-4176-8548-B4138DD8F781}"/>
              </a:ext>
            </a:extLst>
          </p:cNvPr>
          <p:cNvSpPr txBox="1"/>
          <p:nvPr/>
        </p:nvSpPr>
        <p:spPr>
          <a:xfrm>
            <a:off x="714431" y="1694524"/>
            <a:ext cx="11039475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/>
              <a:t>字体嵌入</a:t>
            </a:r>
            <a:r>
              <a:rPr lang="zh-CN" altLang="en-US" sz="2000" dirty="0"/>
              <a:t>： 如果你用了非系统自带字体，保存时务必选择</a:t>
            </a:r>
            <a:r>
              <a:rPr lang="zh-CN" altLang="en-US" sz="2000" b="1" dirty="0"/>
              <a:t>“将字体嵌入文件</a:t>
            </a:r>
            <a:r>
              <a:rPr lang="zh-CN" altLang="en-US" sz="2000" dirty="0"/>
              <a:t>”，或者直接存一份 </a:t>
            </a:r>
            <a:r>
              <a:rPr lang="en-US" altLang="zh-CN" sz="2000" dirty="0"/>
              <a:t>PDF </a:t>
            </a:r>
            <a:r>
              <a:rPr lang="zh-CN" altLang="en-US" sz="2000" dirty="0"/>
              <a:t>格式。答辩室的电脑版本通常很低，字体乱码是灾难。</a:t>
            </a:r>
            <a:r>
              <a:rPr lang="zh-CN" altLang="en-US" sz="2000" b="1" dirty="0"/>
              <a:t>（建议统一）</a:t>
            </a:r>
            <a:endParaRPr lang="en-US" altLang="zh-CN" sz="2000" b="1" dirty="0"/>
          </a:p>
          <a:p>
            <a:pPr>
              <a:lnSpc>
                <a:spcPct val="200000"/>
              </a:lnSpc>
            </a:pP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动画克制</a:t>
            </a:r>
            <a:r>
              <a:rPr lang="zh-CN" altLang="en-US" sz="2000" dirty="0"/>
              <a:t>： 严禁使用“百叶窗”、“旋转”等复杂的切换动画。唯一的动画建议是“淡入”，用于分条展示要点。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修改最后页码。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75FD4-DE2D-4146-B0FE-C7D8EE3DF241}"/>
              </a:ext>
            </a:extLst>
          </p:cNvPr>
          <p:cNvSpPr txBox="1"/>
          <p:nvPr/>
        </p:nvSpPr>
        <p:spPr>
          <a:xfrm>
            <a:off x="3974049" y="1231357"/>
            <a:ext cx="1005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字体</a:t>
            </a:r>
            <a:endParaRPr 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98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E42D95-AD8B-4236-8FEF-37CCE15427B1}"/>
              </a:ext>
            </a:extLst>
          </p:cNvPr>
          <p:cNvSpPr txBox="1"/>
          <p:nvPr/>
        </p:nvSpPr>
        <p:spPr>
          <a:xfrm>
            <a:off x="0" y="95250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2022</a:t>
            </a:r>
            <a:r>
              <a:rPr lang="zh-CN" altLang="en-US" sz="3600" dirty="0"/>
              <a:t>级本科生毕业设计答辩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B73AE-9D04-4308-9EB3-236F9728A7A2}"/>
              </a:ext>
            </a:extLst>
          </p:cNvPr>
          <p:cNvSpPr/>
          <p:nvPr/>
        </p:nvSpPr>
        <p:spPr>
          <a:xfrm>
            <a:off x="-1" y="741581"/>
            <a:ext cx="7200000" cy="47625"/>
          </a:xfrm>
          <a:prstGeom prst="rect">
            <a:avLst/>
          </a:prstGeom>
          <a:solidFill>
            <a:srgbClr val="3555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0D7E2-FA69-4223-A5E0-FC49451D34A3}"/>
              </a:ext>
            </a:extLst>
          </p:cNvPr>
          <p:cNvSpPr txBox="1"/>
          <p:nvPr/>
        </p:nvSpPr>
        <p:spPr>
          <a:xfrm>
            <a:off x="4387842" y="4642009"/>
            <a:ext cx="3416320" cy="2258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李四</a:t>
            </a:r>
            <a:endParaRPr lang="en-US" altLang="zh-CN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/>
              <a:t>学号：</a:t>
            </a:r>
            <a:r>
              <a:rPr lang="en-US" altLang="zh-CN" dirty="0"/>
              <a:t>202311210</a:t>
            </a:r>
          </a:p>
          <a:p>
            <a:pPr algn="ctr">
              <a:lnSpc>
                <a:spcPct val="150000"/>
              </a:lnSpc>
            </a:pPr>
            <a:r>
              <a:rPr lang="zh-CN" altLang="en-US" dirty="0"/>
              <a:t>专业：机械设计制造及其自动化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导师：张三</a:t>
            </a:r>
            <a:endParaRPr lang="en-US" altLang="zh-CN" dirty="0"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fld id="{E97D419F-435C-4209-A317-EA5DB7896E48}" type="datetime1">
              <a:rPr lang="zh-CN" altLang="en-US" smtClean="0"/>
              <a:pPr algn="ctr">
                <a:lnSpc>
                  <a:spcPct val="150000"/>
                </a:lnSpc>
              </a:pPr>
              <a:t>2026/3/18</a:t>
            </a:fld>
            <a:endParaRPr lang="en-US" altLang="zh-CN" dirty="0"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14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E42D95-AD8B-4236-8FEF-37CCE15427B1}"/>
              </a:ext>
            </a:extLst>
          </p:cNvPr>
          <p:cNvSpPr txBox="1"/>
          <p:nvPr/>
        </p:nvSpPr>
        <p:spPr>
          <a:xfrm>
            <a:off x="5080338" y="227729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其他无关内容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848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F98FF8-3DC6-4590-879D-536AA8ECEB8F}"/>
              </a:ext>
            </a:extLst>
          </p:cNvPr>
          <p:cNvSpPr txBox="1"/>
          <p:nvPr/>
        </p:nvSpPr>
        <p:spPr>
          <a:xfrm>
            <a:off x="4503256" y="278266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其他无关内容</a:t>
            </a:r>
            <a:r>
              <a:rPr lang="en-US" altLang="zh-CN" sz="3600" dirty="0"/>
              <a:t>2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1814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宋-Times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ctr">
          <a:defRPr sz="2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502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华文行楷</vt:lpstr>
      <vt:lpstr>隶书</vt:lpstr>
      <vt:lpstr>Arial</vt:lpstr>
      <vt:lpstr>Times New Roman</vt:lpstr>
      <vt:lpstr>Wingdings</vt:lpstr>
      <vt:lpstr>Office Theme</vt:lpstr>
      <vt:lpstr>PowerPoint Presentation</vt:lpstr>
      <vt:lpstr>大纲/目录</vt:lpstr>
      <vt:lpstr>毕业设计报告说明</vt:lpstr>
      <vt:lpstr>毕业设计报告说明</vt:lpstr>
      <vt:lpstr>大纲/目录</vt:lpstr>
      <vt:lpstr>毕业设计报告说明</vt:lpstr>
      <vt:lpstr>毕业设计报告说明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Haiquan Wang</dc:creator>
  <cp:lastModifiedBy>admin admin</cp:lastModifiedBy>
  <cp:revision>241</cp:revision>
  <dcterms:created xsi:type="dcterms:W3CDTF">2025-10-22T03:17:55Z</dcterms:created>
  <dcterms:modified xsi:type="dcterms:W3CDTF">2026-03-18T12:44:40Z</dcterms:modified>
</cp:coreProperties>
</file>